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Churn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6D8"/>
                </a:solidFill>
              </a:rPr>
              <a:t>ABC Communications Ltd — Business Findings &amp; Retention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AB0"/>
                </a:solidFill>
              </a:rPr>
              <a:t>AnalystLab Africa  |  Data Analytics Internship Programme  |  Week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</a:rPr>
              <a:t>Business Context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54480" y="16184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Why churn matters for ABC Communications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</a:rPr>
              <a:t>Customer Base Snapshot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5786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Who ABC's 7,043 customers 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31546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</a:rPr>
              <a:t>Key Churn Drivers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53872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Contract, tenure, service, payment method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41148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</a:rPr>
              <a:t>Insights, Risks &amp; Opportunities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449884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What the data tells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54480" y="50749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</a:rPr>
              <a:t>Recommendations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54589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Five actions to reduce churn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ABC Communications Ltd asked AnalystLab Africa to investigate why customers leave, and what can be done about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488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Customers analysed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21488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5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3484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Overall churn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1488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8388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Attributes per customer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</a:rPr>
              <a:t>Churn — the loss of subscribers to cancellation or a competitor — is one of the most expensive problems in telecom: acquiring a replacement customer costs far more than retaining an existing one, and even small churn reductions meaningfully protect recurring revenue.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the Customer Base Look Like?</a:t>
            </a:r>
            <a:endParaRPr lang="en-US" sz="2600" dirty="0"/>
          </a:p>
        </p:txBody>
      </p:sp>
      <p:pic>
        <p:nvPicPr>
          <p:cNvPr id="3" name="Image 0" descr="chart_pie1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212080" cy="5212080"/>
          </a:xfrm>
          <a:prstGeom prst="rect">
            <a:avLst/>
          </a:prstGeom>
        </p:spPr>
      </p:pic>
      <p:pic>
        <p:nvPicPr>
          <p:cNvPr id="4" name="Image 1" descr="chart_pie2_contractm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52120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Tenure &amp; Pricing Profile</a:t>
            </a:r>
            <a:endParaRPr lang="en-US" sz="2600" dirty="0"/>
          </a:p>
        </p:txBody>
      </p:sp>
      <p:pic>
        <p:nvPicPr>
          <p:cNvPr id="3" name="Image 0" descr="chart_hist1_ten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669280" cy="4114800"/>
          </a:xfrm>
          <a:prstGeom prst="rect">
            <a:avLst/>
          </a:prstGeom>
        </p:spPr>
      </p:pic>
      <p:pic>
        <p:nvPicPr>
          <p:cNvPr id="4" name="Image 1" descr="chart_box1_monthlychar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5303520" cy="4114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Churned customers skew toward low tenure and higher monthly bills — ABC is losing newer, higher-value customers fastest.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8B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Churn Drivers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FEC"/>
                </a:solidFill>
              </a:rPr>
              <a:t>What separates customers who stay from customers who leave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Type Is the #1 Churn Driver</a:t>
            </a:r>
            <a:endParaRPr lang="en-US" sz="2600" dirty="0"/>
          </a:p>
        </p:txBody>
      </p:sp>
      <p:pic>
        <p:nvPicPr>
          <p:cNvPr id="3" name="Image 0" descr="chart_bar1_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76072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1280160"/>
            <a:ext cx="5029200" cy="118872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0" y="1280160"/>
            <a:ext cx="109728" cy="1188720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Text 3"/>
          <p:cNvSpPr/>
          <p:nvPr/>
        </p:nvSpPr>
        <p:spPr>
          <a:xfrm>
            <a:off x="6903720" y="13898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</a:rPr>
              <a:t>Month-to-month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03720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759"/>
                </a:solidFill>
              </a:rPr>
              <a:t>42.7% churn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35440" y="17556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55% of customers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0" y="2697480"/>
            <a:ext cx="5029200" cy="118872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2697480"/>
            <a:ext cx="109728" cy="1188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2807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</a:rPr>
              <a:t>One-year contract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3720" y="3172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</a:rPr>
              <a:t>11.3% churn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235440" y="3172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21% of customers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4114800"/>
            <a:ext cx="5029200" cy="118872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4114800"/>
            <a:ext cx="109728" cy="118872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6" name="Text 13"/>
          <p:cNvSpPr/>
          <p:nvPr/>
        </p:nvSpPr>
        <p:spPr>
          <a:xfrm>
            <a:off x="6903720" y="4224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</a:rPr>
              <a:t>Two-year contract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03720" y="4590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B"/>
                </a:solidFill>
              </a:rPr>
              <a:t>2.8% churn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235440" y="4590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24% of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Lifecycle Risk</a:t>
            </a:r>
            <a:endParaRPr lang="en-US" sz="2600" dirty="0"/>
          </a:p>
        </p:txBody>
      </p:sp>
      <p:pic>
        <p:nvPicPr>
          <p:cNvPr id="3" name="Image 0" descr="chart_bar2_inter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577840" cy="5120640"/>
          </a:xfrm>
          <a:prstGeom prst="rect">
            <a:avLst/>
          </a:prstGeom>
        </p:spPr>
      </p:pic>
      <p:pic>
        <p:nvPicPr>
          <p:cNvPr id="4" name="Image 1" descr="chart_bar4_tenure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05840"/>
            <a:ext cx="55778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Method &amp; Add-On Services</a:t>
            </a:r>
            <a:endParaRPr lang="en-US" sz="2600" dirty="0"/>
          </a:p>
        </p:txBody>
      </p:sp>
      <p:pic>
        <p:nvPicPr>
          <p:cNvPr id="3" name="Image 0" descr="chart_bar3_pa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94360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0" y="1143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Add-on services and churn (customers without the service):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583680" y="16459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Online Security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75520" y="1645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15759"/>
                </a:solidFill>
              </a:rPr>
              <a:t>41.8%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0" y="2194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Tech Support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0" y="2194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15759"/>
                </a:solidFill>
              </a:rPr>
              <a:t>41.6%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2743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Online Backup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0" y="2743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15759"/>
                </a:solidFill>
              </a:rPr>
              <a:t>39.9%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0" y="3291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Device Protection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875520" y="3291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15759"/>
                </a:solidFill>
              </a:rPr>
              <a:t>39.1%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0" y="4023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</a:rPr>
              <a:t>Electronic-check payers churn at 45.3% — roughly 3x automatic-payment customers.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Correlates With Churn?</a:t>
            </a:r>
            <a:endParaRPr lang="en-US" sz="2600" dirty="0"/>
          </a:p>
        </p:txBody>
      </p:sp>
      <p:pic>
        <p:nvPicPr>
          <p:cNvPr id="3" name="Image 0" descr="char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960120"/>
            <a:ext cx="74066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8B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Insights, Risks &amp; Opportunities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FEC"/>
                </a:solidFill>
              </a:rPr>
              <a:t>Turning the data into a management view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Key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170432"/>
            <a:ext cx="384048" cy="384048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1430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Contract type is the dominant churn lever — month-to-month churns ~15x more than two-year contracts.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039112"/>
            <a:ext cx="384048" cy="384048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Churn is front-loaded: 47.4% of customers under 12 months tenure churn, vs. 9.5% past 49 months.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2907792"/>
            <a:ext cx="384048" cy="384048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Fiber-optic, ABC's premium product, has the highest churn of any internet segment (41.9%).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776472"/>
            <a:ext cx="384048" cy="384048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7490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Lack of protective add-ons (security, tech support) roughly triples churn risk.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4645152"/>
            <a:ext cx="384048" cy="384048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61772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Electronic check payers churn 3x more than automatic-payment customers, and overlap with price-sensitive segments.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Risks &amp; Opportunities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FDECEC"/>
          </a:solidFill>
          <a:ln w="12700">
            <a:solidFill>
              <a:srgbClr val="F3C6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80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5759"/>
                </a:solidFill>
              </a:rPr>
              <a:t>Risks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•  Losing higher-value customers: churners average $74.44/mo vs $61.27/mo for retained.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•  Nearly half of first-year customers churn, undermining acquisition ROI.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•  Fiber dissatisfaction risks brand reputation in the premium segment.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E8F3F1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280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8B"/>
                </a:solidFill>
              </a:rPr>
              <a:t>Opportunities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•  Contract migration campaigns could cut churn dramatically given the 15x contract gap.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•  A first-90-days retention programme targets the single highest-churn window.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977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•  Bundling protective add-ons raises stickiness and average revenue per user.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8B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FEC"/>
                </a:solidFill>
              </a:rPr>
              <a:t>Five actions for ABC's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Actions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9525">
            <a:solidFill>
              <a:srgbClr val="E3E9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1704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Contract-conversion incentive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57800" y="117043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Discount or free add-on for month-to-month customers who move to 1–2 year contracts.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9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8483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15798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First-90-days retention programme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0" y="2157984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Proactive onboarding, check-ins, and a month-12 loyalty milestone.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9525">
            <a:solidFill>
              <a:srgbClr val="E3E9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2384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14553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Investigate the fiber experience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3145536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Service-quality and pricing review — fiber churns 2x DSL.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9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59936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13308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Bundle protective add-ons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4133088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Include or discount Security/Tech Support for at-risk segments.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4748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9525">
            <a:solidFill>
              <a:srgbClr val="E3E9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047488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5120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Migrate Electronic Check payers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51206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Incentivise automatic payment methods, which correlate with far lower churn.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8"/>
                </a:solidFill>
              </a:rPr>
              <a:t>Prepared by the AnalystLab Africa Data Analytics Internship team, for ABC Communications Ltd.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2026-08-07T23:09:18Z</dcterms:created>
  <dcterms:modified xsi:type="dcterms:W3CDTF">2026-08-07T23:09:18Z</dcterms:modified>
</cp:coreProperties>
</file>